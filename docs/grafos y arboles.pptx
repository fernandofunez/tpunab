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74" d="100"/>
          <a:sy n="74" d="100"/>
        </p:scale>
        <p:origin x="576"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CC131B-B3E3-45A5-9EFA-839D2D487219}" type="datetimeFigureOut">
              <a:rPr lang="es-AR" smtClean="0"/>
              <a:t>21/11/2025</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BF00C2-5443-416C-B336-A0F0BC370E84}" type="slidenum">
              <a:rPr lang="es-AR" smtClean="0"/>
              <a:t>‹Nº›</a:t>
            </a:fld>
            <a:endParaRPr lang="es-AR"/>
          </a:p>
        </p:txBody>
      </p:sp>
    </p:spTree>
    <p:extLst>
      <p:ext uri="{BB962C8B-B14F-4D97-AF65-F5344CB8AC3E}">
        <p14:creationId xmlns:p14="http://schemas.microsoft.com/office/powerpoint/2010/main" val="6019900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29BF00C2-5443-416C-B336-A0F0BC370E84}" type="slidenum">
              <a:rPr lang="es-AR" smtClean="0"/>
              <a:t>1</a:t>
            </a:fld>
            <a:endParaRPr lang="es-AR"/>
          </a:p>
        </p:txBody>
      </p:sp>
    </p:spTree>
    <p:extLst>
      <p:ext uri="{BB962C8B-B14F-4D97-AF65-F5344CB8AC3E}">
        <p14:creationId xmlns:p14="http://schemas.microsoft.com/office/powerpoint/2010/main" val="98747920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11/21/2025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8A87A34-81AB-432B-8DAE-1953F412C126}" type="datetimeFigureOut">
              <a:rPr lang="en-US" dirty="0"/>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141410" y="3073397"/>
            <a:ext cx="4878391" cy="271780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3073397"/>
            <a:ext cx="4875210" cy="271780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11/21/2025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11/21/2025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11/21/2025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11/21/2025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11/21/2025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s-ES"/>
              <a:t>Haga clic en el icono para agregar una imagen</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11/21/2025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11/21/2025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11/21/2025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11/21/2025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48A87A34-81AB-432B-8DAE-1953F412C126}" type="datetimeFigureOut">
              <a:rPr lang="en-US" dirty="0"/>
              <a:t>11/21/2025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a:t>Haga clic en el icono para agregar una imagen</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a:t>Haga clic en el icono para agregar una imagen</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a:t>Haga clic en el icono para agregar una imagen</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48A87A34-81AB-432B-8DAE-1953F412C126}" type="datetimeFigureOut">
              <a:rPr lang="en-US" dirty="0"/>
              <a:t>11/21/2025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11/21/2025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‹Nº›</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effectLst>
            <a:outerShdw blurRad="177800" dist="38100" dir="2700000" algn="tl">
              <a:srgbClr val="000000">
                <a:alpha val="24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effectLst>
            <a:outerShdw blurRad="152400" dist="38100" dir="2700000" algn="tl">
              <a:srgbClr val="000000">
                <a:alpha val="36000"/>
              </a:srgbClr>
            </a:outerShdw>
          </a:effectLst>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effectLst>
            <a:outerShdw blurRad="152400" dist="38100" dir="2700000" algn="tl">
              <a:srgbClr val="000000">
                <a:alpha val="36000"/>
              </a:srgbClr>
            </a:outerShdw>
          </a:effectLst>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effectLst>
            <a:outerShdw blurRad="152400" dist="38100" dir="2700000" algn="tl">
              <a:srgbClr val="000000">
                <a:alpha val="36000"/>
              </a:srgbClr>
            </a:outerShdw>
          </a:effectLst>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52400" dist="38100" dir="2700000" algn="tl">
              <a:srgbClr val="000000">
                <a:alpha val="36000"/>
              </a:srgbClr>
            </a:outerShdw>
          </a:effectLst>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52400" dist="38100" dir="2700000" algn="tl">
              <a:srgbClr val="000000">
                <a:alpha val="36000"/>
              </a:srgbClr>
            </a:outerShdw>
          </a:effectLst>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74F7A3-5251-3EE8-C61A-370FE7DC495E}"/>
              </a:ext>
            </a:extLst>
          </p:cNvPr>
          <p:cNvSpPr>
            <a:spLocks noGrp="1"/>
          </p:cNvSpPr>
          <p:nvPr>
            <p:ph type="ctrTitle"/>
          </p:nvPr>
        </p:nvSpPr>
        <p:spPr/>
        <p:txBody>
          <a:bodyPr>
            <a:normAutofit/>
          </a:bodyPr>
          <a:lstStyle/>
          <a:p>
            <a:r>
              <a:rPr lang="es-AR" b="1" dirty="0"/>
              <a:t>Estructura de datos</a:t>
            </a:r>
            <a:endParaRPr lang="es-AR" dirty="0"/>
          </a:p>
        </p:txBody>
      </p:sp>
      <p:sp>
        <p:nvSpPr>
          <p:cNvPr id="3" name="Subtítulo 2">
            <a:extLst>
              <a:ext uri="{FF2B5EF4-FFF2-40B4-BE49-F238E27FC236}">
                <a16:creationId xmlns:a16="http://schemas.microsoft.com/office/drawing/2014/main" id="{EBCC3E85-3BBD-1243-A121-7A2F7D55E5B8}"/>
              </a:ext>
            </a:extLst>
          </p:cNvPr>
          <p:cNvSpPr>
            <a:spLocks noGrp="1"/>
          </p:cNvSpPr>
          <p:nvPr>
            <p:ph type="subTitle" idx="1"/>
          </p:nvPr>
        </p:nvSpPr>
        <p:spPr>
          <a:xfrm>
            <a:off x="1876423" y="3602038"/>
            <a:ext cx="9933503" cy="1655762"/>
          </a:xfrm>
        </p:spPr>
        <p:txBody>
          <a:bodyPr>
            <a:normAutofit fontScale="62500" lnSpcReduction="20000"/>
          </a:bodyPr>
          <a:lstStyle/>
          <a:p>
            <a:r>
              <a:rPr lang="es-AR" sz="2900" b="1" dirty="0"/>
              <a:t>grafos y árboles</a:t>
            </a:r>
            <a:r>
              <a:rPr lang="es-AR" sz="2900" dirty="0"/>
              <a:t> del </a:t>
            </a:r>
            <a:r>
              <a:rPr lang="es-AR" sz="2900" dirty="0" err="1"/>
              <a:t>Tp</a:t>
            </a:r>
            <a:r>
              <a:rPr lang="es-AR" sz="2900" dirty="0"/>
              <a:t>: “Cliente de Correo</a:t>
            </a:r>
          </a:p>
          <a:p>
            <a:r>
              <a:rPr lang="es-AR" sz="2900" dirty="0"/>
              <a:t>Electrónico”</a:t>
            </a:r>
          </a:p>
          <a:p>
            <a:endParaRPr lang="es-AR" dirty="0"/>
          </a:p>
          <a:p>
            <a:br>
              <a:rPr lang="es-AR" dirty="0"/>
            </a:br>
            <a:endParaRPr lang="es-AR" dirty="0"/>
          </a:p>
        </p:txBody>
      </p:sp>
      <p:sp>
        <p:nvSpPr>
          <p:cNvPr id="4" name="CuadroTexto 3">
            <a:extLst>
              <a:ext uri="{FF2B5EF4-FFF2-40B4-BE49-F238E27FC236}">
                <a16:creationId xmlns:a16="http://schemas.microsoft.com/office/drawing/2014/main" id="{1B12D3F6-76F6-B67F-EDE7-D2FE1BBA6A4C}"/>
              </a:ext>
            </a:extLst>
          </p:cNvPr>
          <p:cNvSpPr txBox="1"/>
          <p:nvPr/>
        </p:nvSpPr>
        <p:spPr>
          <a:xfrm>
            <a:off x="1876424" y="4662152"/>
            <a:ext cx="7357728" cy="369332"/>
          </a:xfrm>
          <a:prstGeom prst="rect">
            <a:avLst/>
          </a:prstGeom>
          <a:noFill/>
        </p:spPr>
        <p:txBody>
          <a:bodyPr wrap="square" rtlCol="0">
            <a:spAutoFit/>
          </a:bodyPr>
          <a:lstStyle/>
          <a:p>
            <a:r>
              <a:rPr lang="es-ES" dirty="0"/>
              <a:t>Integrantes : Federico Bacelar – Fernando Funez – Quevedo Matías</a:t>
            </a:r>
          </a:p>
        </p:txBody>
      </p:sp>
    </p:spTree>
    <p:extLst>
      <p:ext uri="{BB962C8B-B14F-4D97-AF65-F5344CB8AC3E}">
        <p14:creationId xmlns:p14="http://schemas.microsoft.com/office/powerpoint/2010/main" val="2224645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AB049-8460-7FBA-2006-6AC98F403DAF}"/>
              </a:ext>
            </a:extLst>
          </p:cNvPr>
          <p:cNvSpPr>
            <a:spLocks noGrp="1"/>
          </p:cNvSpPr>
          <p:nvPr>
            <p:ph type="title"/>
          </p:nvPr>
        </p:nvSpPr>
        <p:spPr/>
        <p:txBody>
          <a:bodyPr>
            <a:normAutofit fontScale="90000"/>
          </a:bodyPr>
          <a:lstStyle/>
          <a:p>
            <a:r>
              <a:rPr lang="es-AR" dirty="0"/>
              <a:t>“El sistema combina dos estructuras fundamentales:</a:t>
            </a:r>
            <a:br>
              <a:rPr lang="es-AR" dirty="0"/>
            </a:br>
            <a:endParaRPr lang="es-AR" dirty="0"/>
          </a:p>
        </p:txBody>
      </p:sp>
      <p:sp>
        <p:nvSpPr>
          <p:cNvPr id="3" name="Marcador de contenido 2">
            <a:extLst>
              <a:ext uri="{FF2B5EF4-FFF2-40B4-BE49-F238E27FC236}">
                <a16:creationId xmlns:a16="http://schemas.microsoft.com/office/drawing/2014/main" id="{8DF11A41-55F8-E16E-A080-E4F0F3F3F8DC}"/>
              </a:ext>
            </a:extLst>
          </p:cNvPr>
          <p:cNvSpPr>
            <a:spLocks noGrp="1"/>
          </p:cNvSpPr>
          <p:nvPr>
            <p:ph idx="1"/>
          </p:nvPr>
        </p:nvSpPr>
        <p:spPr/>
        <p:txBody>
          <a:bodyPr/>
          <a:lstStyle/>
          <a:p>
            <a:r>
              <a:rPr lang="es-AR" dirty="0"/>
              <a:t>Un </a:t>
            </a:r>
            <a:r>
              <a:rPr lang="es-AR" b="1" dirty="0"/>
              <a:t>grafo</a:t>
            </a:r>
            <a:r>
              <a:rPr lang="es-AR" dirty="0"/>
              <a:t> para modelar la red de servidores.</a:t>
            </a:r>
          </a:p>
          <a:p>
            <a:r>
              <a:rPr lang="es-AR" dirty="0"/>
              <a:t>Un </a:t>
            </a:r>
            <a:r>
              <a:rPr lang="es-AR" b="1" dirty="0"/>
              <a:t>árbol</a:t>
            </a:r>
            <a:r>
              <a:rPr lang="es-AR" dirty="0"/>
              <a:t> para organizar las carpetas de cada usuario. De esta forma se logra conectar usuarios entre servidores y ordenar sus mensajes internamente.”</a:t>
            </a:r>
          </a:p>
          <a:p>
            <a:endParaRPr lang="es-AR" dirty="0"/>
          </a:p>
        </p:txBody>
      </p:sp>
    </p:spTree>
    <p:extLst>
      <p:ext uri="{BB962C8B-B14F-4D97-AF65-F5344CB8AC3E}">
        <p14:creationId xmlns:p14="http://schemas.microsoft.com/office/powerpoint/2010/main" val="2618973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086B2F-D3E1-A3C2-4D92-6C6615919B9D}"/>
              </a:ext>
            </a:extLst>
          </p:cNvPr>
          <p:cNvSpPr>
            <a:spLocks noGrp="1"/>
          </p:cNvSpPr>
          <p:nvPr>
            <p:ph type="title"/>
          </p:nvPr>
        </p:nvSpPr>
        <p:spPr/>
        <p:txBody>
          <a:bodyPr/>
          <a:lstStyle/>
          <a:p>
            <a:r>
              <a:rPr lang="es-AR" dirty="0"/>
              <a:t>Grafo de servidores</a:t>
            </a:r>
          </a:p>
        </p:txBody>
      </p:sp>
      <p:sp>
        <p:nvSpPr>
          <p:cNvPr id="3" name="Marcador de contenido 2">
            <a:extLst>
              <a:ext uri="{FF2B5EF4-FFF2-40B4-BE49-F238E27FC236}">
                <a16:creationId xmlns:a16="http://schemas.microsoft.com/office/drawing/2014/main" id="{8E326F68-B8E8-79F0-A6D4-775EB65EEF8B}"/>
              </a:ext>
            </a:extLst>
          </p:cNvPr>
          <p:cNvSpPr>
            <a:spLocks noGrp="1"/>
          </p:cNvSpPr>
          <p:nvPr>
            <p:ph idx="1"/>
          </p:nvPr>
        </p:nvSpPr>
        <p:spPr/>
        <p:txBody>
          <a:bodyPr/>
          <a:lstStyle/>
          <a:p>
            <a:r>
              <a:rPr lang="es-AR" dirty="0"/>
              <a:t>“Cada servidor es un nodo del grafo. Las conexiones entre servidores tienen un costo asociado. El sistema utiliza el algoritmo de </a:t>
            </a:r>
            <a:r>
              <a:rPr lang="es-AR" b="1" dirty="0"/>
              <a:t>Dijkstra</a:t>
            </a:r>
            <a:r>
              <a:rPr lang="es-AR" dirty="0"/>
              <a:t> para calcular la ruta más corta entre servidores al enviar un mensaje.”</a:t>
            </a:r>
          </a:p>
        </p:txBody>
      </p:sp>
    </p:spTree>
    <p:extLst>
      <p:ext uri="{BB962C8B-B14F-4D97-AF65-F5344CB8AC3E}">
        <p14:creationId xmlns:p14="http://schemas.microsoft.com/office/powerpoint/2010/main" val="1312677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EE86BD-ED59-B739-1A9F-A7722E940BD2}"/>
              </a:ext>
            </a:extLst>
          </p:cNvPr>
          <p:cNvSpPr>
            <a:spLocks noGrp="1"/>
          </p:cNvSpPr>
          <p:nvPr>
            <p:ph type="title"/>
          </p:nvPr>
        </p:nvSpPr>
        <p:spPr/>
        <p:txBody>
          <a:bodyPr/>
          <a:lstStyle/>
          <a:p>
            <a:r>
              <a:rPr lang="es-AR" dirty="0"/>
              <a:t>Ejemplo de envío de mensaje</a:t>
            </a:r>
          </a:p>
        </p:txBody>
      </p:sp>
      <p:sp>
        <p:nvSpPr>
          <p:cNvPr id="3" name="Marcador de contenido 2">
            <a:extLst>
              <a:ext uri="{FF2B5EF4-FFF2-40B4-BE49-F238E27FC236}">
                <a16:creationId xmlns:a16="http://schemas.microsoft.com/office/drawing/2014/main" id="{C7C4B044-43DF-C618-8DE8-2AC937242852}"/>
              </a:ext>
            </a:extLst>
          </p:cNvPr>
          <p:cNvSpPr>
            <a:spLocks noGrp="1"/>
          </p:cNvSpPr>
          <p:nvPr>
            <p:ph idx="1"/>
          </p:nvPr>
        </p:nvSpPr>
        <p:spPr>
          <a:xfrm>
            <a:off x="824248" y="1841678"/>
            <a:ext cx="10223163" cy="4649273"/>
          </a:xfrm>
        </p:spPr>
        <p:txBody>
          <a:bodyPr>
            <a:normAutofit fontScale="70000" lnSpcReduction="20000"/>
          </a:bodyPr>
          <a:lstStyle/>
          <a:p>
            <a:r>
              <a:rPr lang="es-AR" dirty="0"/>
              <a:t>“Ejemplo: Juan en el servidor A envía un mensaje a Ana en el servidor C. Como no hay conexión directa, el sistema calcula la ruta A → B → C con costo total 15. El mensaje se guarda en la carpeta ‘Enviados’ de Juan y llega a la bandeja de Ana.”</a:t>
            </a:r>
          </a:p>
          <a:p>
            <a:r>
              <a:rPr lang="es-AR" dirty="0"/>
              <a:t>Conexiones:</a:t>
            </a:r>
          </a:p>
          <a:p>
            <a:r>
              <a:rPr lang="es-AR" dirty="0"/>
              <a:t>A ↔ B con costo 10</a:t>
            </a:r>
          </a:p>
          <a:p>
            <a:r>
              <a:rPr lang="es-AR" dirty="0"/>
              <a:t>B ↔ C con costo 5</a:t>
            </a:r>
          </a:p>
          <a:p>
            <a:r>
              <a:rPr lang="es-AR" dirty="0"/>
              <a:t>A ↔ C sin conexión directa</a:t>
            </a:r>
          </a:p>
          <a:p>
            <a:r>
              <a:rPr lang="es-AR" dirty="0"/>
              <a:t>Usuarios:</a:t>
            </a:r>
          </a:p>
          <a:p>
            <a:r>
              <a:rPr lang="es-AR" dirty="0"/>
              <a:t>En </a:t>
            </a:r>
            <a:r>
              <a:rPr lang="es-AR" b="1" dirty="0"/>
              <a:t>Servidor A</a:t>
            </a:r>
            <a:r>
              <a:rPr lang="es-AR" dirty="0"/>
              <a:t>: Juan (juan@mail.com)</a:t>
            </a:r>
          </a:p>
          <a:p>
            <a:r>
              <a:rPr lang="es-AR" dirty="0"/>
              <a:t>En </a:t>
            </a:r>
            <a:r>
              <a:rPr lang="es-AR" b="1" dirty="0"/>
              <a:t>Servidor C</a:t>
            </a:r>
            <a:r>
              <a:rPr lang="es-AR" dirty="0"/>
              <a:t>: Ana (ana@mail.com)</a:t>
            </a:r>
          </a:p>
          <a:p>
            <a:r>
              <a:rPr lang="es-AR" dirty="0"/>
              <a:t>(A) ----10---- (B) ----5---- (C)</a:t>
            </a:r>
          </a:p>
          <a:p>
            <a:r>
              <a:rPr lang="es-AR" dirty="0"/>
              <a:t>   Juan                        Ana</a:t>
            </a:r>
          </a:p>
          <a:p>
            <a:pPr marL="0" indent="0">
              <a:buNone/>
            </a:pPr>
            <a:endParaRPr lang="es-AR" dirty="0"/>
          </a:p>
        </p:txBody>
      </p:sp>
    </p:spTree>
    <p:extLst>
      <p:ext uri="{BB962C8B-B14F-4D97-AF65-F5344CB8AC3E}">
        <p14:creationId xmlns:p14="http://schemas.microsoft.com/office/powerpoint/2010/main" val="1555587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54588D-1463-57B9-483D-8D902A32A83E}"/>
              </a:ext>
            </a:extLst>
          </p:cNvPr>
          <p:cNvSpPr>
            <a:spLocks noGrp="1"/>
          </p:cNvSpPr>
          <p:nvPr>
            <p:ph type="title"/>
          </p:nvPr>
        </p:nvSpPr>
        <p:spPr/>
        <p:txBody>
          <a:bodyPr/>
          <a:lstStyle/>
          <a:p>
            <a:r>
              <a:rPr lang="es-AR" dirty="0"/>
              <a:t>Árbol de carpetas del usuario</a:t>
            </a:r>
          </a:p>
        </p:txBody>
      </p:sp>
      <p:sp>
        <p:nvSpPr>
          <p:cNvPr id="3" name="Marcador de contenido 2">
            <a:extLst>
              <a:ext uri="{FF2B5EF4-FFF2-40B4-BE49-F238E27FC236}">
                <a16:creationId xmlns:a16="http://schemas.microsoft.com/office/drawing/2014/main" id="{9130A419-281F-8E34-286B-CD49637AA776}"/>
              </a:ext>
            </a:extLst>
          </p:cNvPr>
          <p:cNvSpPr>
            <a:spLocks noGrp="1"/>
          </p:cNvSpPr>
          <p:nvPr>
            <p:ph idx="1"/>
          </p:nvPr>
        </p:nvSpPr>
        <p:spPr/>
        <p:txBody>
          <a:bodyPr/>
          <a:lstStyle/>
          <a:p>
            <a:r>
              <a:rPr lang="es-AR" dirty="0"/>
              <a:t>“La bandeja de cada usuario se modela como un </a:t>
            </a:r>
            <a:r>
              <a:rPr lang="es-AR" b="1" dirty="0"/>
              <a:t>árbol de carpetas</a:t>
            </a:r>
            <a:r>
              <a:rPr lang="es-AR" dirty="0"/>
              <a:t>. Cada nodo es una carpeta y puede tener subcarpetas. Los mensajes se almacenan en una </a:t>
            </a:r>
            <a:r>
              <a:rPr lang="es-AR" b="1" dirty="0"/>
              <a:t>cola de mensajes</a:t>
            </a:r>
            <a:r>
              <a:rPr lang="es-AR" dirty="0"/>
              <a:t> dentro de cada carpeta, ordenados por prioridad.”</a:t>
            </a:r>
          </a:p>
        </p:txBody>
      </p:sp>
    </p:spTree>
    <p:extLst>
      <p:ext uri="{BB962C8B-B14F-4D97-AF65-F5344CB8AC3E}">
        <p14:creationId xmlns:p14="http://schemas.microsoft.com/office/powerpoint/2010/main" val="2513235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3DBFAF-003A-2BF4-2936-1BA5B079B0AA}"/>
              </a:ext>
            </a:extLst>
          </p:cNvPr>
          <p:cNvSpPr>
            <a:spLocks noGrp="1"/>
          </p:cNvSpPr>
          <p:nvPr>
            <p:ph type="title"/>
          </p:nvPr>
        </p:nvSpPr>
        <p:spPr/>
        <p:txBody>
          <a:bodyPr/>
          <a:lstStyle/>
          <a:p>
            <a:r>
              <a:rPr lang="es-AR" dirty="0"/>
              <a:t>Flujo completo</a:t>
            </a:r>
          </a:p>
        </p:txBody>
      </p:sp>
      <p:sp>
        <p:nvSpPr>
          <p:cNvPr id="3" name="Marcador de contenido 2">
            <a:extLst>
              <a:ext uri="{FF2B5EF4-FFF2-40B4-BE49-F238E27FC236}">
                <a16:creationId xmlns:a16="http://schemas.microsoft.com/office/drawing/2014/main" id="{F23E2CAD-716E-949F-4FCF-FA9434A5A8E8}"/>
              </a:ext>
            </a:extLst>
          </p:cNvPr>
          <p:cNvSpPr>
            <a:spLocks noGrp="1"/>
          </p:cNvSpPr>
          <p:nvPr>
            <p:ph idx="1"/>
          </p:nvPr>
        </p:nvSpPr>
        <p:spPr/>
        <p:txBody>
          <a:bodyPr/>
          <a:lstStyle/>
          <a:p>
            <a:r>
              <a:rPr lang="es-AR" dirty="0"/>
              <a:t>“El mensaje viaja primero por el </a:t>
            </a:r>
            <a:r>
              <a:rPr lang="es-AR" b="1" dirty="0"/>
              <a:t>grafo de servidores</a:t>
            </a:r>
            <a:r>
              <a:rPr lang="es-AR" dirty="0"/>
              <a:t> hasta llegar al servidor destino. Luego se organiza en el </a:t>
            </a:r>
            <a:r>
              <a:rPr lang="es-AR" b="1" dirty="0"/>
              <a:t>árbol de carpetas</a:t>
            </a:r>
            <a:r>
              <a:rPr lang="es-AR" dirty="0"/>
              <a:t> del usuario destinatario. Esto integra la conectividad externa con la organización interna.”</a:t>
            </a:r>
          </a:p>
        </p:txBody>
      </p:sp>
    </p:spTree>
    <p:extLst>
      <p:ext uri="{BB962C8B-B14F-4D97-AF65-F5344CB8AC3E}">
        <p14:creationId xmlns:p14="http://schemas.microsoft.com/office/powerpoint/2010/main" val="39997959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1871C5-A351-1D00-C5EE-4A1624556488}"/>
              </a:ext>
            </a:extLst>
          </p:cNvPr>
          <p:cNvSpPr>
            <a:spLocks noGrp="1"/>
          </p:cNvSpPr>
          <p:nvPr>
            <p:ph type="title"/>
          </p:nvPr>
        </p:nvSpPr>
        <p:spPr>
          <a:xfrm>
            <a:off x="1141412" y="90152"/>
            <a:ext cx="10011692" cy="399245"/>
          </a:xfrm>
        </p:spPr>
        <p:txBody>
          <a:bodyPr>
            <a:normAutofit fontScale="90000"/>
          </a:bodyPr>
          <a:lstStyle/>
          <a:p>
            <a:r>
              <a:rPr lang="es-ES" dirty="0"/>
              <a:t>ESQUEMA VISUAL DE COMBINACION DE  GRAFO Y ARBOL</a:t>
            </a:r>
            <a:endParaRPr lang="es-AR" dirty="0"/>
          </a:p>
        </p:txBody>
      </p:sp>
      <p:pic>
        <p:nvPicPr>
          <p:cNvPr id="5" name="Marcador de contenido 4">
            <a:extLst>
              <a:ext uri="{FF2B5EF4-FFF2-40B4-BE49-F238E27FC236}">
                <a16:creationId xmlns:a16="http://schemas.microsoft.com/office/drawing/2014/main" id="{7BE4F56D-7D48-FBA5-E677-805A1B138F8C}"/>
              </a:ext>
            </a:extLst>
          </p:cNvPr>
          <p:cNvPicPr>
            <a:picLocks noGrp="1" noChangeAspect="1"/>
          </p:cNvPicPr>
          <p:nvPr>
            <p:ph idx="1"/>
          </p:nvPr>
        </p:nvPicPr>
        <p:blipFill>
          <a:blip r:embed="rId2"/>
          <a:stretch>
            <a:fillRect/>
          </a:stretch>
        </p:blipFill>
        <p:spPr>
          <a:xfrm>
            <a:off x="2625392" y="3323631"/>
            <a:ext cx="5166326" cy="3444217"/>
          </a:xfrm>
        </p:spPr>
      </p:pic>
      <p:sp>
        <p:nvSpPr>
          <p:cNvPr id="6" name="CuadroTexto 5">
            <a:extLst>
              <a:ext uri="{FF2B5EF4-FFF2-40B4-BE49-F238E27FC236}">
                <a16:creationId xmlns:a16="http://schemas.microsoft.com/office/drawing/2014/main" id="{87AB6238-7E72-417F-28C6-424A082E62AE}"/>
              </a:ext>
            </a:extLst>
          </p:cNvPr>
          <p:cNvSpPr txBox="1"/>
          <p:nvPr/>
        </p:nvSpPr>
        <p:spPr>
          <a:xfrm>
            <a:off x="850006" y="1066829"/>
            <a:ext cx="3127668" cy="2308324"/>
          </a:xfrm>
          <a:prstGeom prst="rect">
            <a:avLst/>
          </a:prstGeom>
          <a:noFill/>
        </p:spPr>
        <p:txBody>
          <a:bodyPr wrap="square" rtlCol="0">
            <a:spAutoFit/>
          </a:bodyPr>
          <a:lstStyle/>
          <a:p>
            <a:endParaRPr lang="es-AR" b="1" dirty="0"/>
          </a:p>
          <a:p>
            <a:r>
              <a:rPr lang="es-AR" b="1" dirty="0"/>
              <a:t>(Usuario Juan – Servidor A)</a:t>
            </a:r>
            <a:endParaRPr lang="es-AR" dirty="0"/>
          </a:p>
          <a:p>
            <a:r>
              <a:rPr lang="es-AR" dirty="0"/>
              <a:t>Juan tiene su </a:t>
            </a:r>
            <a:r>
              <a:rPr lang="es-AR" b="1" dirty="0"/>
              <a:t>árbol de carpetas</a:t>
            </a:r>
            <a:r>
              <a:rPr lang="es-AR" dirty="0"/>
              <a:t>: Entrada, Enviados, etc.</a:t>
            </a:r>
          </a:p>
          <a:p>
            <a:r>
              <a:rPr lang="es-AR" dirty="0"/>
              <a:t>Cuando envía un mensaje, este se guarda en su carpeta </a:t>
            </a:r>
            <a:r>
              <a:rPr lang="es-AR" b="1" dirty="0"/>
              <a:t>Enviados</a:t>
            </a:r>
            <a:r>
              <a:rPr lang="es-AR" dirty="0"/>
              <a:t>.</a:t>
            </a:r>
          </a:p>
          <a:p>
            <a:endParaRPr lang="es-AR" dirty="0"/>
          </a:p>
        </p:txBody>
      </p:sp>
      <p:sp>
        <p:nvSpPr>
          <p:cNvPr id="8" name="CuadroTexto 7">
            <a:extLst>
              <a:ext uri="{FF2B5EF4-FFF2-40B4-BE49-F238E27FC236}">
                <a16:creationId xmlns:a16="http://schemas.microsoft.com/office/drawing/2014/main" id="{D58375C6-7817-DE6F-22DB-9F877BE3C1A5}"/>
              </a:ext>
            </a:extLst>
          </p:cNvPr>
          <p:cNvSpPr txBox="1"/>
          <p:nvPr/>
        </p:nvSpPr>
        <p:spPr>
          <a:xfrm>
            <a:off x="3977675" y="1249251"/>
            <a:ext cx="4236654" cy="2031325"/>
          </a:xfrm>
          <a:prstGeom prst="rect">
            <a:avLst/>
          </a:prstGeom>
          <a:noFill/>
        </p:spPr>
        <p:txBody>
          <a:bodyPr wrap="square" rtlCol="0">
            <a:spAutoFit/>
          </a:bodyPr>
          <a:lstStyle/>
          <a:p>
            <a:r>
              <a:rPr lang="es-AR" b="1" dirty="0"/>
              <a:t>(Grafo de servidores)</a:t>
            </a:r>
            <a:endParaRPr lang="es-AR" dirty="0"/>
          </a:p>
          <a:p>
            <a:r>
              <a:rPr lang="es-AR" dirty="0"/>
              <a:t>Los servidores A, B y C están conectados como nodos de un grafo.</a:t>
            </a:r>
          </a:p>
          <a:p>
            <a:r>
              <a:rPr lang="es-AR" dirty="0"/>
              <a:t>Cada conexión tiene un </a:t>
            </a:r>
            <a:r>
              <a:rPr lang="es-AR" b="1" dirty="0"/>
              <a:t>costo de conectividad</a:t>
            </a:r>
            <a:r>
              <a:rPr lang="es-AR" dirty="0"/>
              <a:t> (ejemplo: A–B = 10, B–C = 5).</a:t>
            </a:r>
          </a:p>
          <a:p>
            <a:r>
              <a:rPr lang="es-AR" dirty="0"/>
              <a:t>El sistema usa </a:t>
            </a:r>
            <a:r>
              <a:rPr lang="es-AR" b="1" dirty="0"/>
              <a:t>Dijkstra</a:t>
            </a:r>
            <a:r>
              <a:rPr lang="es-AR" dirty="0"/>
              <a:t> para calcular la ruta más corta entre servidores.</a:t>
            </a:r>
          </a:p>
        </p:txBody>
      </p:sp>
      <p:sp>
        <p:nvSpPr>
          <p:cNvPr id="9" name="CuadroTexto 8">
            <a:extLst>
              <a:ext uri="{FF2B5EF4-FFF2-40B4-BE49-F238E27FC236}">
                <a16:creationId xmlns:a16="http://schemas.microsoft.com/office/drawing/2014/main" id="{8155CE3A-848F-0DEA-F28C-A72FF6999D81}"/>
              </a:ext>
            </a:extLst>
          </p:cNvPr>
          <p:cNvSpPr txBox="1"/>
          <p:nvPr/>
        </p:nvSpPr>
        <p:spPr>
          <a:xfrm>
            <a:off x="8590207" y="2395470"/>
            <a:ext cx="3412903" cy="3139321"/>
          </a:xfrm>
          <a:prstGeom prst="rect">
            <a:avLst/>
          </a:prstGeom>
          <a:noFill/>
        </p:spPr>
        <p:txBody>
          <a:bodyPr wrap="square" rtlCol="0">
            <a:spAutoFit/>
          </a:bodyPr>
          <a:lstStyle/>
          <a:p>
            <a:r>
              <a:rPr lang="es-AR" b="1" dirty="0"/>
              <a:t>(Usuario Ana – Servidor C)</a:t>
            </a:r>
            <a:endParaRPr lang="es-AR" dirty="0"/>
          </a:p>
          <a:p>
            <a:r>
              <a:rPr lang="es-AR" dirty="0"/>
              <a:t>Ana tiene su propio </a:t>
            </a:r>
            <a:r>
              <a:rPr lang="es-AR" b="1" dirty="0"/>
              <a:t>árbol de carpetas</a:t>
            </a:r>
            <a:r>
              <a:rPr lang="es-AR" dirty="0"/>
              <a:t>: Entrada, Enviados, Spam, Trabajo → Proyecto.</a:t>
            </a:r>
          </a:p>
          <a:p>
            <a:r>
              <a:rPr lang="es-AR" dirty="0"/>
              <a:t>El mensaje que Juan envió viaja por el grafo (A → B → C) y llega a su carpeta </a:t>
            </a:r>
            <a:r>
              <a:rPr lang="es-AR" b="1" dirty="0"/>
              <a:t>Entrada</a:t>
            </a:r>
            <a:r>
              <a:rPr lang="es-AR" dirty="0"/>
              <a:t>.</a:t>
            </a:r>
          </a:p>
          <a:p>
            <a:r>
              <a:rPr lang="es-AR" dirty="0"/>
              <a:t>Si hay filtros, el mensaje puede moverse automáticamente a </a:t>
            </a:r>
            <a:r>
              <a:rPr lang="es-AR" b="1" dirty="0"/>
              <a:t>Trabajo → Proyecto</a:t>
            </a:r>
            <a:r>
              <a:rPr lang="es-AR" dirty="0"/>
              <a:t>.</a:t>
            </a:r>
          </a:p>
          <a:p>
            <a:endParaRPr lang="es-AR" dirty="0"/>
          </a:p>
        </p:txBody>
      </p:sp>
    </p:spTree>
    <p:extLst>
      <p:ext uri="{BB962C8B-B14F-4D97-AF65-F5344CB8AC3E}">
        <p14:creationId xmlns:p14="http://schemas.microsoft.com/office/powerpoint/2010/main" val="33415171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E3DB72-33DB-2319-B814-8E658FD999AB}"/>
              </a:ext>
            </a:extLst>
          </p:cNvPr>
          <p:cNvSpPr>
            <a:spLocks noGrp="1"/>
          </p:cNvSpPr>
          <p:nvPr>
            <p:ph type="title"/>
          </p:nvPr>
        </p:nvSpPr>
        <p:spPr/>
        <p:txBody>
          <a:bodyPr/>
          <a:lstStyle/>
          <a:p>
            <a:r>
              <a:rPr lang="es-ES" dirty="0"/>
              <a:t>OSEA QUE NUESTRO SISTEMA:</a:t>
            </a:r>
            <a:endParaRPr lang="es-AR" dirty="0"/>
          </a:p>
        </p:txBody>
      </p:sp>
      <p:sp>
        <p:nvSpPr>
          <p:cNvPr id="3" name="Marcador de contenido 2">
            <a:extLst>
              <a:ext uri="{FF2B5EF4-FFF2-40B4-BE49-F238E27FC236}">
                <a16:creationId xmlns:a16="http://schemas.microsoft.com/office/drawing/2014/main" id="{C3955DAD-D25A-8056-6B4C-F82EE47D3779}"/>
              </a:ext>
            </a:extLst>
          </p:cNvPr>
          <p:cNvSpPr>
            <a:spLocks noGrp="1"/>
          </p:cNvSpPr>
          <p:nvPr>
            <p:ph idx="1"/>
          </p:nvPr>
        </p:nvSpPr>
        <p:spPr/>
        <p:txBody>
          <a:bodyPr/>
          <a:lstStyle/>
          <a:p>
            <a:r>
              <a:rPr lang="es-AR" dirty="0"/>
              <a:t>“combina dos estructuras: un grafo para modelar la red de servidores y un árbol para organizar las carpetas de cada usuario. Los servidores se conectan entre sí con costos de conectividad, y el algoritmo de Dijkstra calcula la ruta más corta para enviar mensajes. Una vez que el mensaje llega al destinatario, se organiza en su bandeja, que está modelada como un árbol de carpetas. Cada carpeta contiene una cola de mensajes, ordenados por prioridad.”</a:t>
            </a:r>
          </a:p>
        </p:txBody>
      </p:sp>
    </p:spTree>
    <p:extLst>
      <p:ext uri="{BB962C8B-B14F-4D97-AF65-F5344CB8AC3E}">
        <p14:creationId xmlns:p14="http://schemas.microsoft.com/office/powerpoint/2010/main" val="204393931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o">
  <a:themeElements>
    <a:clrScheme name="Circuit">
      <a:dk1>
        <a:sysClr val="windowText" lastClr="000000"/>
      </a:dk1>
      <a:lt1>
        <a:sysClr val="window" lastClr="FFFFFF"/>
      </a:lt1>
      <a:dk2>
        <a:srgbClr val="2B5F27"/>
      </a:dk2>
      <a:lt2>
        <a:srgbClr val="D8FC68"/>
      </a:lt2>
      <a:accent1>
        <a:srgbClr val="DDC855"/>
      </a:accent1>
      <a:accent2>
        <a:srgbClr val="FCA03D"/>
      </a:accent2>
      <a:accent3>
        <a:srgbClr val="E36439"/>
      </a:accent3>
      <a:accent4>
        <a:srgbClr val="C2935B"/>
      </a:accent4>
      <a:accent5>
        <a:srgbClr val="88C25C"/>
      </a:accent5>
      <a:accent6>
        <a:srgbClr val="BFCC86"/>
      </a:accent6>
      <a:hlink>
        <a:srgbClr val="FFCE23"/>
      </a:hlink>
      <a:folHlink>
        <a:srgbClr val="FDEB86"/>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88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82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97ECCC31-8429-4523-BE8D-8F09B7A4D46D}"/>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TM04033919[[fn=Circuito]]</Template>
  <TotalTime>53</TotalTime>
  <Words>574</Words>
  <Application>Microsoft Office PowerPoint</Application>
  <PresentationFormat>Panorámica</PresentationFormat>
  <Paragraphs>42</Paragraphs>
  <Slides>8</Slides>
  <Notes>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8</vt:i4>
      </vt:variant>
    </vt:vector>
  </HeadingPairs>
  <TitlesOfParts>
    <vt:vector size="12" baseType="lpstr">
      <vt:lpstr>Arial</vt:lpstr>
      <vt:lpstr>Calibri</vt:lpstr>
      <vt:lpstr>Tw Cen MT</vt:lpstr>
      <vt:lpstr>Circuito</vt:lpstr>
      <vt:lpstr>Estructura de datos</vt:lpstr>
      <vt:lpstr>“El sistema combina dos estructuras fundamentales: </vt:lpstr>
      <vt:lpstr>Grafo de servidores</vt:lpstr>
      <vt:lpstr>Ejemplo de envío de mensaje</vt:lpstr>
      <vt:lpstr>Árbol de carpetas del usuario</vt:lpstr>
      <vt:lpstr>Flujo completo</vt:lpstr>
      <vt:lpstr>ESQUEMA VISUAL DE COMBINACION DE  GRAFO Y ARBOL</vt:lpstr>
      <vt:lpstr>OSEA QUE NUESTRO SISTEMA: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Fernando Funez</dc:creator>
  <cp:lastModifiedBy>Fernando Funez</cp:lastModifiedBy>
  <cp:revision>1</cp:revision>
  <dcterms:created xsi:type="dcterms:W3CDTF">2025-11-22T01:20:39Z</dcterms:created>
  <dcterms:modified xsi:type="dcterms:W3CDTF">2025-11-22T02:14:09Z</dcterms:modified>
</cp:coreProperties>
</file>